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68" r:id="rId2"/>
    <p:sldId id="286" r:id="rId3"/>
    <p:sldId id="314" r:id="rId4"/>
    <p:sldId id="316" r:id="rId5"/>
    <p:sldId id="322" r:id="rId6"/>
    <p:sldId id="323" r:id="rId7"/>
    <p:sldId id="317" r:id="rId8"/>
    <p:sldId id="318" r:id="rId9"/>
    <p:sldId id="319" r:id="rId10"/>
    <p:sldId id="320" r:id="rId11"/>
    <p:sldId id="312" r:id="rId12"/>
    <p:sldId id="313" r:id="rId13"/>
    <p:sldId id="321" r:id="rId14"/>
    <p:sldId id="287" r:id="rId15"/>
    <p:sldId id="324" r:id="rId16"/>
    <p:sldId id="308" r:id="rId17"/>
    <p:sldId id="296" r:id="rId18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E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58" autoAdjust="0"/>
    <p:restoredTop sz="96433" autoAdjust="0"/>
  </p:normalViewPr>
  <p:slideViewPr>
    <p:cSldViewPr snapToGrid="0" showGuides="1">
      <p:cViewPr varScale="1">
        <p:scale>
          <a:sx n="144" d="100"/>
          <a:sy n="144" d="100"/>
        </p:scale>
        <p:origin x="704" y="184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19/03/2025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E3C3B-4E5A-80B6-DF23-44504F8F8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5E6D09A-B547-DB81-F092-ED4EFD3DC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4BDD9BB-6504-F6FC-2048-692D896A9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173EB44-9BF0-0751-C1E4-9E9E60B4AA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439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C655C-C158-B95E-3963-B29E230B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0427693-1EC6-F500-4342-698FE7D94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07E6970-2208-F338-6B38-2A2178A6D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FAB5824-71B6-0E06-C057-FB001D3EA8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8955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96E8-6D34-21BF-3892-649CBC9BD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EDBC355-FB57-643C-5D3B-6C2D19E8C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1223082-48B1-EF68-3B9C-6E477F551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B13ED95-6DB7-94F0-6522-D43DBFC60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0468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B8A1F-9184-6E4D-9C51-E3AF63ED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FE5CDBB-F352-48FA-89E2-FD1D5ED5F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1F33E4A-9AA7-7579-43B1-B2C8540E3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85C9BC2-630E-799F-81A7-2F67ADEF7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1981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A6A82-3139-B5D7-7D06-A4A4828A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4BEDF2F-FFA7-A262-0BA8-E43EF3BEB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1AB0DA7-9BE7-469D-B14F-D1A359DBA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017E846-5E29-1E0A-C03F-69096A2348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9688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3B77-DD4E-EDEC-B602-51741911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F19B8EB-9E7D-77CA-A2A1-8A335E8A7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E61CF40-25EE-7CC5-91A5-69E97BCB2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C96F315-BA95-019B-AA62-34A74A9E8A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0962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FBBFC-277C-A438-47CE-4D66191C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85DA4DA-6E07-8B26-AC2F-3BA825AC5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E237E37-0F34-7BEF-1784-C7229BA79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46731AB-8482-67A8-B71B-02CFFAB66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5513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6869-ABAE-D1E4-1B95-0D2F1FD5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CC621E3-4A6B-647B-E9D1-0F9774E30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050803C-B386-E342-F550-AD2D226AF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599C9E6-16AD-443C-6465-E92A520968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8641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F837-858F-00F8-7FF1-717A29D6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ADC9230-FFDF-5C15-9872-F067237F3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506B8D1-526D-3CBB-C4E2-24DD54F57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8406253-D7D9-61B4-8554-7ED009BB5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7111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04AF-B302-8B99-2867-6509640E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0BE29CC-6DD2-DA5F-30FF-46D0BDDEE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FA88A8D-262A-DE35-F462-ECB1FAD71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D522349-145B-7DBD-85F8-70ED8C61F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0298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2E6D6-8074-B014-EFE8-AB9BCF32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9DFDC8C-4C66-7B3E-241C-0901898E1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1F1D3E1-5571-6DE5-221D-BB1190155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6FB516-FAD4-3190-DD7E-3D2D9B62BC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4708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0220-3398-E9E7-BC56-A39EA172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D87CF1A-11CF-F0BB-2AA0-79E476B05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325A974-AEC8-8B87-69C3-765F4F6E9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46B1BB9-2C11-68CF-829C-4218C5675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215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D2AA8-F049-47BA-B6D3-3DC9B460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9FE9A48-1BCC-855F-5D80-CF1D114B6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A5230CD-0205-EE8A-A4FC-6B4182C47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3866266-993E-D45F-7759-CBA88F974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4083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30AB-6B02-D86B-A180-1599F606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5B25100-8037-1F3D-8E1A-C200B9E5D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42E8795-182F-D86D-4A75-D0F904514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350E036-7A02-220D-538E-731F0C3A2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0485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E1E5-003F-6472-4877-02EF48F7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D3212FE-3406-A9D0-3D74-71FAA7FD6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FED1D70-F5AF-A6B5-8678-106CFEAEC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3AB814C-F1A6-C846-7380-7552B4ACF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8027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C4AD1-E24D-C270-41BD-367184CC1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00D3711-C5BE-C857-DB4E-B6FE22FCA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829B2AA-ED39-6457-4FE2-BEED94059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35EA6F0-7F18-D559-2317-7176F8011E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6872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7560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Example of a title at the 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1548000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00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18355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Example of a title in the middle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2628097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29150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Example of a title at the bottom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3708591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 with 27 </a:t>
            </a:r>
            <a:r>
              <a:rPr lang="en-GB" dirty="0" err="1"/>
              <a:t>pt</a:t>
            </a:r>
            <a:r>
              <a:rPr lang="en-GB" dirty="0"/>
              <a:t>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 dirty="0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 dirty="0"/>
              <a:t>Click icon to insert 16x9 image or movie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GB" dirty="0"/>
              <a:t>Click to insert Caption under image or movie</a:t>
            </a:r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 dirty="0"/>
              <a:t>Click to enter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 dirty="0"/>
              <a:t>Click to enter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 dirty="0"/>
              <a:t>Click to enter text</a:t>
            </a:r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  <a:p>
            <a:endParaRPr lang="en-GB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This is an example of 19,5 </a:t>
            </a:r>
            <a:r>
              <a:rPr lang="en-GB" dirty="0" err="1"/>
              <a:t>pt</a:t>
            </a:r>
            <a:r>
              <a:rPr lang="en-GB" dirty="0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an example of a white headline on a full screen, dark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This is an example of a black headline on a full screen, light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This is an example of a black headline on a white background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insert image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 with 27 </a:t>
            </a:r>
            <a:r>
              <a:rPr lang="en-GB" dirty="0" err="1"/>
              <a:t>pt</a:t>
            </a:r>
            <a:r>
              <a:rPr lang="en-GB" dirty="0"/>
              <a:t>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 dirty="0"/>
              <a:t>Example chart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insert chart</a:t>
            </a:r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bg1"/>
          </a:solidFill>
        </p:spPr>
        <p:txBody>
          <a:bodyPr vert="horz" lIns="756000" tIns="0" rIns="0" bIns="0" rtlCol="0" anchor="ctr"/>
          <a:lstStyle>
            <a:lvl1pPr algn="l">
              <a:defRPr sz="1100" b="0">
                <a:solidFill>
                  <a:schemeClr val="tx1"/>
                </a:solidFill>
              </a:defRPr>
            </a:lvl1pPr>
          </a:lstStyle>
          <a:p>
            <a:fld id="{C194BDB0-F4EA-4DD6-8281-CCE2440D0CE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This is an example of a 27 </a:t>
            </a:r>
            <a:r>
              <a:rPr lang="en-GB" dirty="0" err="1"/>
              <a:t>pt</a:t>
            </a:r>
            <a:r>
              <a:rPr lang="en-GB" dirty="0"/>
              <a:t> headline with 27 </a:t>
            </a:r>
            <a:r>
              <a:rPr lang="en-GB" dirty="0" err="1"/>
              <a:t>pt</a:t>
            </a:r>
            <a:r>
              <a:rPr lang="en-GB" dirty="0"/>
              <a:t> line spacing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/>
          <a:lstStyle>
            <a:lvl1pPr algn="l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GB"/>
              <a:t>Title of the presentation - by tab Insert -&gt; Header text and Footer text</a:t>
            </a:r>
            <a:endParaRPr lang="en-GB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Dynamic Graph Visualization on WebGL</a:t>
            </a:r>
          </a:p>
        </p:txBody>
      </p:sp>
      <p:sp>
        <p:nvSpPr>
          <p:cNvPr id="7" name="Ond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21/03/2025</a:t>
            </a:r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err="1"/>
              <a:t>Guangyu</a:t>
            </a:r>
            <a:r>
              <a:rPr lang="en-GB" dirty="0"/>
              <a:t> Li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6E0E7-79AF-A8D4-0170-3967D9924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N" dirty="0"/>
              <a:t>Visualization Group</a:t>
            </a:r>
          </a:p>
        </p:txBody>
      </p:sp>
    </p:spTree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DDDBD-D7AC-C8BB-4694-D8B6BC8F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E553F5CD-2699-DF60-92FF-73C4F865C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37" y="523155"/>
            <a:ext cx="4910138" cy="732238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effectLst/>
                <a:latin typeface="Calibri" panose="020F0502020204030204" pitchFamily="34" charset="0"/>
              </a:rPr>
              <a:t>Dynamic Graph Visualization</a:t>
            </a:r>
            <a:endParaRPr lang="en-US" sz="2400" dirty="0">
              <a:effectLst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548C8F8-57FD-65C5-90D9-CDC4E5EBA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127" y="962108"/>
            <a:ext cx="6925971" cy="36025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CN" sz="1800" dirty="0"/>
          </a:p>
          <a:p>
            <a:pPr lvl="3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</a:rPr>
              <a:t>E</a:t>
            </a:r>
            <a:r>
              <a:rPr lang="en-US" sz="1800" dirty="0">
                <a:effectLst/>
                <a:latin typeface="Calibri" panose="020F0502020204030204" pitchFamily="34" charset="0"/>
              </a:rPr>
              <a:t>volution of relationships between entities.</a:t>
            </a:r>
          </a:p>
          <a:p>
            <a:pPr lvl="3">
              <a:lnSpc>
                <a:spcPct val="90000"/>
              </a:lnSpc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</a:endParaRPr>
          </a:p>
          <a:p>
            <a:pPr lvl="3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</a:rPr>
              <a:t>A temporal graph is used to store events between entities.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effectLst/>
                <a:latin typeface="Calibri" panose="020F0502020204030204" pitchFamily="34" charset="0"/>
              </a:rPr>
              <a:t>Entities are encoded as node in a static graph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effectLst/>
                <a:latin typeface="Calibri" panose="020F0502020204030204" pitchFamily="34" charset="0"/>
              </a:rPr>
              <a:t>Events between entities are encoded as undirected edges</a:t>
            </a:r>
          </a:p>
          <a:p>
            <a:pPr lvl="3">
              <a:lnSpc>
                <a:spcPct val="90000"/>
              </a:lnSpc>
              <a:spcAft>
                <a:spcPts val="600"/>
              </a:spcAft>
            </a:pPr>
            <a:endParaRPr lang="en-US" sz="1800" dirty="0">
              <a:latin typeface="Calibri" panose="020F0502020204030204" pitchFamily="34" charset="0"/>
            </a:endParaRPr>
          </a:p>
          <a:p>
            <a:pPr lvl="3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</a:rPr>
              <a:t>An offline dynamic graph has complete knowledge of all event details in advance.</a:t>
            </a:r>
          </a:p>
          <a:p>
            <a:pPr lvl="3">
              <a:lnSpc>
                <a:spcPct val="90000"/>
              </a:lnSpc>
              <a:spcAft>
                <a:spcPts val="600"/>
              </a:spcAft>
            </a:pPr>
            <a:endParaRPr lang="en-US" sz="1800" dirty="0">
              <a:latin typeface="Calibri" panose="020F0502020204030204" pitchFamily="34" charset="0"/>
            </a:endParaRPr>
          </a:p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</a:endParaRPr>
          </a:p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800" dirty="0"/>
          </a:p>
          <a:p>
            <a:pPr marL="644525" lvl="4" indent="-285750">
              <a:lnSpc>
                <a:spcPct val="90000"/>
              </a:lnSpc>
              <a:spcAft>
                <a:spcPts val="600"/>
              </a:spcAft>
            </a:pPr>
            <a:endParaRPr lang="en-CN" sz="1800" dirty="0"/>
          </a:p>
          <a:p>
            <a:pPr marL="361950" lvl="4" indent="0">
              <a:lnSpc>
                <a:spcPct val="90000"/>
              </a:lnSpc>
              <a:spcAft>
                <a:spcPts val="600"/>
              </a:spcAft>
              <a:buNone/>
            </a:pPr>
            <a:endParaRPr lang="en-CN" sz="1400" dirty="0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56816595-C89B-4510-6FF4-68E72B70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4426" y="4568400"/>
            <a:ext cx="7042149" cy="57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D3FD0E-44D6-88D4-7228-06AE83C3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4568400"/>
            <a:ext cx="1114424" cy="57228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94BDB0-F4EA-4DD6-8281-CCE2440D0CE0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97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F043D-97EA-7F51-3744-26BB34371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C6D99B94-E191-EFF5-CC65-CC1C4F19C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37" y="523155"/>
            <a:ext cx="4910138" cy="732238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effectLst/>
                <a:latin typeface="Calibri" panose="020F0502020204030204" pitchFamily="34" charset="0"/>
              </a:rPr>
              <a:t>Dynamic Graph Approaches</a:t>
            </a:r>
            <a:endParaRPr lang="en-US" sz="2400" dirty="0">
              <a:effectLst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2EA7FFF-EAFB-1C6F-5D77-9F02B6167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128" y="962108"/>
            <a:ext cx="4813086" cy="36025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CN" sz="1800" dirty="0"/>
          </a:p>
          <a:p>
            <a:pPr lvl="3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/>
                <a:latin typeface="Calibri" panose="020F0502020204030204" pitchFamily="34" charset="0"/>
              </a:rPr>
              <a:t>Time-sliced Graph</a:t>
            </a:r>
          </a:p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2000" dirty="0">
              <a:effectLst/>
              <a:latin typeface="Calibri" panose="020F0502020204030204" pitchFamily="34" charset="0"/>
            </a:endParaRP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</a:rPr>
              <a:t>Static graph in every snapshot</a:t>
            </a:r>
          </a:p>
          <a:p>
            <a:pPr marL="361950" lvl="4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000" dirty="0">
              <a:latin typeface="Calibri" panose="020F0502020204030204" pitchFamily="34" charset="0"/>
            </a:endParaRP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</a:rPr>
              <a:t>Advantage in </a:t>
            </a:r>
            <a:r>
              <a:rPr lang="en-US" sz="1800" dirty="0">
                <a:latin typeface="Calibri" panose="020F0502020204030204" pitchFamily="34" charset="0"/>
              </a:rPr>
              <a:t>s</a:t>
            </a:r>
            <a:r>
              <a:rPr lang="en-US" sz="1800" dirty="0">
                <a:effectLst/>
                <a:latin typeface="Calibri" panose="020F0502020204030204" pitchFamily="34" charset="0"/>
              </a:rPr>
              <a:t>tructured </a:t>
            </a:r>
            <a:r>
              <a:rPr lang="en-US" sz="1800" dirty="0">
                <a:latin typeface="Calibri" panose="020F0502020204030204" pitchFamily="34" charset="0"/>
              </a:rPr>
              <a:t>d</a:t>
            </a:r>
            <a:r>
              <a:rPr lang="en-US" sz="1800" dirty="0">
                <a:effectLst/>
                <a:latin typeface="Calibri" panose="020F0502020204030204" pitchFamily="34" charset="0"/>
              </a:rPr>
              <a:t>ata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endParaRPr lang="en-US" sz="1000" dirty="0">
              <a:effectLst/>
              <a:latin typeface="Calibri" panose="020F0502020204030204" pitchFamily="34" charset="0"/>
            </a:endParaRP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</a:rPr>
              <a:t>Loss of information about potential events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endParaRPr lang="en-US" sz="1000" dirty="0">
              <a:latin typeface="Calibri" panose="020F0502020204030204" pitchFamily="34" charset="0"/>
            </a:endParaRP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</a:rPr>
              <a:t>Difficult to determine slicing criteria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endParaRPr lang="en-US" sz="1800" dirty="0">
              <a:latin typeface="Calibri" panose="020F0502020204030204" pitchFamily="34" charset="0"/>
            </a:endParaRPr>
          </a:p>
          <a:p>
            <a:pPr lvl="4">
              <a:lnSpc>
                <a:spcPct val="90000"/>
              </a:lnSpc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</a:endParaRPr>
          </a:p>
          <a:p>
            <a:pPr marL="644525" lvl="4" indent="-285750">
              <a:lnSpc>
                <a:spcPct val="90000"/>
              </a:lnSpc>
              <a:spcAft>
                <a:spcPts val="600"/>
              </a:spcAft>
            </a:pPr>
            <a:endParaRPr lang="en-US" sz="1800" dirty="0"/>
          </a:p>
          <a:p>
            <a:pPr marL="644525" lvl="4" indent="-285750">
              <a:lnSpc>
                <a:spcPct val="90000"/>
              </a:lnSpc>
              <a:spcAft>
                <a:spcPts val="600"/>
              </a:spcAft>
            </a:pPr>
            <a:endParaRPr lang="en-CN" sz="1800" dirty="0"/>
          </a:p>
          <a:p>
            <a:pPr marL="361950" lvl="4" indent="0">
              <a:lnSpc>
                <a:spcPct val="90000"/>
              </a:lnSpc>
              <a:spcAft>
                <a:spcPts val="600"/>
              </a:spcAft>
              <a:buNone/>
            </a:pPr>
            <a:endParaRPr lang="en-CN" sz="1400" dirty="0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0822894D-E688-327C-E584-C312E7BF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4426" y="4568400"/>
            <a:ext cx="7042149" cy="57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CFBC450-9CC5-39C7-370B-B9BAC766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4568400"/>
            <a:ext cx="1114424" cy="57228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94BDB0-F4EA-4DD6-8281-CCE2440D0CE0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76BB95F7-127F-89DB-721A-51AA3F9AF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728" y="1644184"/>
            <a:ext cx="3256144" cy="185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24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7FAC-6474-2185-7998-A0E60DA9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03EC26FF-F938-1A8F-464D-3CCA476B2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37" y="523155"/>
            <a:ext cx="4910138" cy="732238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effectLst/>
                <a:latin typeface="Calibri" panose="020F0502020204030204" pitchFamily="34" charset="0"/>
              </a:rPr>
              <a:t>Event-based graph layout</a:t>
            </a:r>
            <a:endParaRPr lang="en-US" sz="2400" dirty="0">
              <a:effectLst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547585A-02D5-9D2A-211F-00A8C9967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128" y="962108"/>
            <a:ext cx="4688730" cy="3602578"/>
          </a:xfrm>
        </p:spPr>
        <p:txBody>
          <a:bodyPr>
            <a:normAutofit/>
          </a:bodyPr>
          <a:lstStyle/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800" dirty="0">
              <a:latin typeface="Calibri" panose="020F0502020204030204" pitchFamily="34" charset="0"/>
            </a:endParaRPr>
          </a:p>
          <a:p>
            <a:pPr lvl="3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Integrated Graph</a:t>
            </a:r>
          </a:p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2000" dirty="0"/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Convert time into distance in 3D space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endParaRPr lang="en-US" sz="1800" dirty="0"/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Preserve all details of temporal network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Visualization in Time-Space cube</a:t>
            </a:r>
          </a:p>
          <a:p>
            <a:pPr marL="361950" lvl="4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800" dirty="0"/>
              <a:t>	</a:t>
            </a:r>
            <a:r>
              <a:rPr lang="en-US" sz="1600" dirty="0"/>
              <a:t>node -&gt; trajectory</a:t>
            </a:r>
          </a:p>
          <a:p>
            <a:pPr marL="361950" lvl="4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600" dirty="0"/>
              <a:t>	edge -&gt; connection surface</a:t>
            </a:r>
          </a:p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800" dirty="0"/>
          </a:p>
          <a:p>
            <a:pPr marL="644525" lvl="4" indent="-285750">
              <a:lnSpc>
                <a:spcPct val="90000"/>
              </a:lnSpc>
              <a:spcAft>
                <a:spcPts val="600"/>
              </a:spcAft>
            </a:pPr>
            <a:endParaRPr lang="en-US" sz="1800" dirty="0"/>
          </a:p>
          <a:p>
            <a:pPr marL="644525" lvl="4" indent="-285750">
              <a:lnSpc>
                <a:spcPct val="90000"/>
              </a:lnSpc>
              <a:spcAft>
                <a:spcPts val="600"/>
              </a:spcAft>
            </a:pPr>
            <a:endParaRPr lang="en-CN" sz="1800" dirty="0"/>
          </a:p>
          <a:p>
            <a:pPr marL="361950" lvl="4" indent="0">
              <a:lnSpc>
                <a:spcPct val="90000"/>
              </a:lnSpc>
              <a:spcAft>
                <a:spcPts val="600"/>
              </a:spcAft>
              <a:buNone/>
            </a:pPr>
            <a:endParaRPr lang="en-CN" sz="1400" dirty="0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02322216-1E15-E12A-4F47-DA25C149D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4426" y="4568400"/>
            <a:ext cx="7042149" cy="57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789E32C-687D-C345-8C4A-8BA060B8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4568400"/>
            <a:ext cx="1114424" cy="57228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94BDB0-F4EA-4DD6-8281-CCE2440D0CE0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  <p:pic>
        <p:nvPicPr>
          <p:cNvPr id="5" name="Picture 4" descr="A graph of a function and time&#10;&#10;AI-generated content may be incorrect.">
            <a:extLst>
              <a:ext uri="{FF2B5EF4-FFF2-40B4-BE49-F238E27FC236}">
                <a16:creationId xmlns:a16="http://schemas.microsoft.com/office/drawing/2014/main" id="{4F5C8B76-0E20-19AA-42F7-DCCC73456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858" y="1255393"/>
            <a:ext cx="37084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0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3DF73-4D6E-8104-E9EA-C9545D0A3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B4F941-A9B3-288E-68DC-61DFAD82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EBD51AC-4E57-E0A7-DA02-ADB88C7A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92D663CE-6618-B18D-FD45-94352157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25" y="518711"/>
            <a:ext cx="6516618" cy="539038"/>
          </a:xfrm>
        </p:spPr>
        <p:txBody>
          <a:bodyPr/>
          <a:lstStyle/>
          <a:p>
            <a:r>
              <a:rPr lang="en-GB" sz="2400" b="1" dirty="0"/>
              <a:t>Modelling events using interval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jdelijke aanduiding voor inhoud 14">
                <a:extLst>
                  <a:ext uri="{FF2B5EF4-FFF2-40B4-BE49-F238E27FC236}">
                    <a16:creationId xmlns:a16="http://schemas.microsoft.com/office/drawing/2014/main" id="{1BB52223-8208-BAB1-1542-794612EA3F5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51221" y="1290571"/>
                <a:ext cx="6090945" cy="3353280"/>
              </a:xfrm>
            </p:spPr>
            <p:txBody>
              <a:bodyPr>
                <a:normAutofit/>
              </a:bodyPr>
              <a:lstStyle/>
              <a:p>
                <a:pPr lvl="2">
                  <a:spcAft>
                    <a:spcPts val="600"/>
                  </a:spcAft>
                </a:pPr>
                <a:r>
                  <a:rPr lang="en-US" sz="2000" dirty="0"/>
                  <a:t>Interval function with node v and event appears in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marL="1714500" lvl="5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∈(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𝑓𝑎𝑙𝑠𝑒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600" dirty="0"/>
              </a:p>
              <a:p>
                <a:pPr lvl="2">
                  <a:spcAft>
                    <a:spcPts val="600"/>
                  </a:spcAft>
                </a:pPr>
                <a:r>
                  <a:rPr lang="en-US" sz="1950" dirty="0"/>
                  <a:t>Interval tree store all the interval information</a:t>
                </a:r>
              </a:p>
              <a:p>
                <a:pPr lvl="3">
                  <a:spcAft>
                    <a:spcPts val="600"/>
                  </a:spcAft>
                </a:pPr>
                <a:r>
                  <a:rPr lang="en-US" sz="1600" dirty="0">
                    <a:solidFill>
                      <a:srgbClr val="000000"/>
                    </a:solidFill>
                    <a:latin typeface="-webkit-standard"/>
                    <a:ea typeface="Cambria Math" panose="02040503050406030204" pitchFamily="18" charset="0"/>
                  </a:rPr>
                  <a:t>Interval tree can be built using BST or Red-Black tree</a:t>
                </a:r>
              </a:p>
              <a:p>
                <a:pPr lvl="3">
                  <a:spcAft>
                    <a:spcPts val="600"/>
                  </a:spcAft>
                </a:pPr>
                <a:endParaRPr lang="en-US" sz="1600" dirty="0">
                  <a:solidFill>
                    <a:srgbClr val="000000"/>
                  </a:solidFill>
                  <a:latin typeface="-webkit-standard"/>
                  <a:ea typeface="Cambria Math" panose="02040503050406030204" pitchFamily="18" charset="0"/>
                </a:endParaRPr>
              </a:p>
              <a:p>
                <a:pPr lvl="2">
                  <a:spcAft>
                    <a:spcPts val="600"/>
                  </a:spcAft>
                </a:pPr>
                <a:r>
                  <a:rPr lang="en-GB" sz="1950" dirty="0"/>
                  <a:t>Combining intervals with overlapping appearance range</a:t>
                </a:r>
              </a:p>
              <a:p>
                <a:pPr lvl="3">
                  <a:spcAft>
                    <a:spcPts val="600"/>
                  </a:spcAft>
                </a:pPr>
                <a:r>
                  <a:rPr lang="en-US" sz="1600" dirty="0"/>
                  <a:t>High efficiency for querying intervals: O(log n)</a:t>
                </a:r>
              </a:p>
            </p:txBody>
          </p:sp>
        </mc:Choice>
        <mc:Fallback>
          <p:sp>
            <p:nvSpPr>
              <p:cNvPr id="4" name="Tijdelijke aanduiding voor inhoud 14">
                <a:extLst>
                  <a:ext uri="{FF2B5EF4-FFF2-40B4-BE49-F238E27FC236}">
                    <a16:creationId xmlns:a16="http://schemas.microsoft.com/office/drawing/2014/main" id="{1BB52223-8208-BAB1-1542-794612EA3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51221" y="1290571"/>
                <a:ext cx="6090945" cy="3353280"/>
              </a:xfrm>
              <a:blipFill>
                <a:blip r:embed="rId3"/>
                <a:stretch>
                  <a:fillRect l="-2500" t="-1773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48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0E431-AFBC-8B6F-D8BE-61D628F6F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524E515-A987-1829-EEDB-145C511E1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0B6F383-C045-8CFA-2E26-F4F73C31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0ADE5-0364-0C39-3B95-B66BEA9C1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25" y="518711"/>
            <a:ext cx="6516618" cy="539038"/>
          </a:xfrm>
        </p:spPr>
        <p:txBody>
          <a:bodyPr/>
          <a:lstStyle/>
          <a:p>
            <a:r>
              <a:rPr lang="en-GB" sz="2400" b="1" dirty="0"/>
              <a:t>Challenges for Event-based Graph</a:t>
            </a:r>
          </a:p>
        </p:txBody>
      </p:sp>
      <p:sp>
        <p:nvSpPr>
          <p:cNvPr id="4" name="Tijdelijke aanduiding voor inhoud 14">
            <a:extLst>
              <a:ext uri="{FF2B5EF4-FFF2-40B4-BE49-F238E27FC236}">
                <a16:creationId xmlns:a16="http://schemas.microsoft.com/office/drawing/2014/main" id="{6147133C-A76A-F924-C521-00B315C76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1221" y="1290571"/>
            <a:ext cx="6090945" cy="3353280"/>
          </a:xfrm>
        </p:spPr>
        <p:txBody>
          <a:bodyPr>
            <a:normAutofit/>
          </a:bodyPr>
          <a:lstStyle/>
          <a:p>
            <a:pPr lvl="2">
              <a:spcAft>
                <a:spcPts val="600"/>
              </a:spcAft>
            </a:pPr>
            <a:r>
              <a:rPr lang="en-US" sz="2000" dirty="0"/>
              <a:t>Measuring relative position of entities</a:t>
            </a:r>
            <a:endParaRPr lang="en-US" sz="1800" dirty="0"/>
          </a:p>
          <a:p>
            <a:pPr lvl="3">
              <a:spcAft>
                <a:spcPts val="600"/>
              </a:spcAft>
            </a:pPr>
            <a:r>
              <a:rPr lang="en-GB" sz="1600" dirty="0"/>
              <a:t>Real-world network don’t have explicit coordinate at 3D space</a:t>
            </a:r>
          </a:p>
          <a:p>
            <a:pPr lvl="3">
              <a:spcAft>
                <a:spcPts val="600"/>
              </a:spcAft>
            </a:pPr>
            <a:endParaRPr lang="en-GB" sz="1600" dirty="0"/>
          </a:p>
          <a:p>
            <a:pPr lvl="2">
              <a:spcAft>
                <a:spcPts val="600"/>
              </a:spcAft>
            </a:pPr>
            <a:r>
              <a:rPr lang="en-US" sz="1950" dirty="0"/>
              <a:t>Event Modeling with edges</a:t>
            </a:r>
          </a:p>
          <a:p>
            <a:pPr lvl="3">
              <a:spcAft>
                <a:spcPts val="600"/>
              </a:spcAft>
            </a:pPr>
            <a:r>
              <a:rPr lang="en-US" sz="1600" dirty="0"/>
              <a:t>Modelling event using nodes distance</a:t>
            </a:r>
          </a:p>
          <a:p>
            <a:pPr lvl="3">
              <a:spcAft>
                <a:spcPts val="600"/>
              </a:spcAft>
            </a:pPr>
            <a:endParaRPr lang="en-US" sz="1600" dirty="0">
              <a:solidFill>
                <a:srgbClr val="000000"/>
              </a:solidFill>
              <a:latin typeface="-webkit-standard"/>
              <a:ea typeface="Cambria Math" panose="02040503050406030204" pitchFamily="18" charset="0"/>
            </a:endParaRPr>
          </a:p>
          <a:p>
            <a:pPr lvl="2">
              <a:spcAft>
                <a:spcPts val="600"/>
              </a:spcAft>
            </a:pPr>
            <a:r>
              <a:rPr lang="en-GB" sz="1950" dirty="0"/>
              <a:t>Force Directed Layout</a:t>
            </a:r>
          </a:p>
          <a:p>
            <a:pPr lvl="3">
              <a:spcAft>
                <a:spcPts val="600"/>
              </a:spcAft>
            </a:pPr>
            <a:r>
              <a:rPr lang="en-US" sz="1600" dirty="0"/>
              <a:t>Reveal underline graph structure</a:t>
            </a:r>
          </a:p>
          <a:p>
            <a:pPr lvl="3">
              <a:spcAft>
                <a:spcPts val="600"/>
              </a:spcAft>
            </a:pPr>
            <a:r>
              <a:rPr lang="en-US" sz="1600" dirty="0"/>
              <a:t>Without explicit positioning 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7939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59BCE-E922-23F6-31B1-EEB3D95C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F642F2D9-DF61-BEFD-1346-CCA8B470B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37" y="523155"/>
            <a:ext cx="4910138" cy="732238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effectLst/>
                <a:latin typeface="Calibri" panose="020F0502020204030204" pitchFamily="34" charset="0"/>
              </a:rPr>
              <a:t>Dynamic Graph Computation</a:t>
            </a:r>
            <a:endParaRPr lang="en-US" sz="2400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92B6EF73-826E-5758-B799-0B20D244532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69128" y="962108"/>
                <a:ext cx="4688730" cy="3602578"/>
              </a:xfrm>
            </p:spPr>
            <p:txBody>
              <a:bodyPr>
                <a:normAutofit/>
              </a:bodyPr>
              <a:lstStyle/>
              <a:p>
                <a:pPr lvl="3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2000" dirty="0"/>
                  <a:t>Force-directed algorithm</a:t>
                </a:r>
              </a:p>
              <a:p>
                <a:pPr lvl="4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800" dirty="0"/>
                  <a:t>Node Repulsion  </a:t>
                </a:r>
              </a:p>
              <a:p>
                <a:pPr marL="361950" lvl="4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GB" sz="1600" dirty="0"/>
                  <a:t>force repels trajectories from each other</a:t>
                </a:r>
                <a:endParaRPr lang="en-US" sz="1800" dirty="0"/>
              </a:p>
              <a:p>
                <a:pPr marL="361950" lvl="4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d>
                        <m:dPr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7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 i="1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 dirty="0"/>
              </a:p>
              <a:p>
                <a:pPr lvl="4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800" dirty="0"/>
                  <a:t>Edge Attraction</a:t>
                </a:r>
              </a:p>
              <a:p>
                <a:pPr marL="361950" lvl="4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US" sz="1600" dirty="0">
                    <a:effectLst/>
                    <a:latin typeface="NimbusRomNo9L"/>
                  </a:rPr>
                  <a:t>force attracts the node of edge toward each other, decreasing the length of the edge </a:t>
                </a:r>
                <a:endParaRPr lang="en-US" sz="1600" dirty="0"/>
              </a:p>
              <a:p>
                <a:pPr marL="361950" lvl="4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lvl="4">
                  <a:lnSpc>
                    <a:spcPct val="90000"/>
                  </a:lnSpc>
                  <a:spcAft>
                    <a:spcPts val="600"/>
                  </a:spcAft>
                </a:pPr>
                <a:endParaRPr lang="en-US" sz="1800" dirty="0"/>
              </a:p>
              <a:p>
                <a:pPr marL="179025" lvl="3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endParaRPr lang="en-US" sz="1800" dirty="0"/>
              </a:p>
              <a:p>
                <a:pPr marL="644525" lvl="4" indent="-285750">
                  <a:lnSpc>
                    <a:spcPct val="90000"/>
                  </a:lnSpc>
                  <a:spcAft>
                    <a:spcPts val="600"/>
                  </a:spcAft>
                </a:pPr>
                <a:endParaRPr lang="en-US" sz="1800" dirty="0"/>
              </a:p>
              <a:p>
                <a:pPr marL="644525" lvl="4" indent="-285750">
                  <a:lnSpc>
                    <a:spcPct val="90000"/>
                  </a:lnSpc>
                  <a:spcAft>
                    <a:spcPts val="600"/>
                  </a:spcAft>
                </a:pPr>
                <a:endParaRPr lang="en-CN" sz="1800" dirty="0"/>
              </a:p>
              <a:p>
                <a:pPr marL="361950" lvl="4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endParaRPr lang="en-CN" sz="1400" dirty="0"/>
              </a:p>
            </p:txBody>
          </p:sp>
        </mc:Choice>
        <mc:Fallback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92B6EF73-826E-5758-B799-0B20D24453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69128" y="962108"/>
                <a:ext cx="4688730" cy="3602578"/>
              </a:xfrm>
              <a:blipFill>
                <a:blip r:embed="rId3"/>
                <a:stretch>
                  <a:fillRect t="-31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0A20C505-DF0B-C907-4804-2D259A302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4426" y="4568400"/>
            <a:ext cx="7042149" cy="57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372C998-1495-BEAC-4999-852FDD4F3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4568400"/>
            <a:ext cx="1114424" cy="57228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94BDB0-F4EA-4DD6-8281-CCE2440D0CE0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C4CEB7-5AB7-38AF-D767-56AAB549D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33" y="754602"/>
            <a:ext cx="2877407" cy="381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6AF59-2069-C8B4-ABC3-76618E24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A37D484A-AC20-5404-10D8-A513428A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37" y="523155"/>
            <a:ext cx="4910138" cy="732238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effectLst/>
                <a:latin typeface="Calibri" panose="020F0502020204030204" pitchFamily="34" charset="0"/>
              </a:rPr>
              <a:t>Dynamic Graph Computation</a:t>
            </a:r>
            <a:endParaRPr lang="en-US" sz="2400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FE6B9DF4-7548-EB3E-296F-83FDFF21DC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69127" y="962108"/>
                <a:ext cx="5194825" cy="3602578"/>
              </a:xfrm>
            </p:spPr>
            <p:txBody>
              <a:bodyPr>
                <a:normAutofit/>
              </a:bodyPr>
              <a:lstStyle/>
              <a:p>
                <a:pPr lvl="4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800" dirty="0"/>
                  <a:t>Time Straightening</a:t>
                </a:r>
              </a:p>
              <a:p>
                <a:pPr marL="361950" lvl="4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GB" sz="1600" dirty="0"/>
                  <a:t>force </a:t>
                </a:r>
                <a:r>
                  <a:rPr lang="en-US" sz="1600" dirty="0">
                    <a:effectLst/>
                    <a:latin typeface="URWPalladioL"/>
                  </a:rPr>
                  <a:t>smooths node trajectories, reducing node movements over time</a:t>
                </a:r>
              </a:p>
              <a:p>
                <a:pPr marL="361950" lvl="4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endParaRPr lang="en-US" sz="1600" dirty="0">
                  <a:effectLst/>
                  <a:latin typeface="URWPalladioL"/>
                </a:endParaRPr>
              </a:p>
              <a:p>
                <a:pPr lvl="4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600" b="0" i="0" u="none" strike="noStrike" dirty="0" err="1">
                    <a:solidFill>
                      <a:srgbClr val="000000"/>
                    </a:solidFill>
                    <a:effectLst/>
                    <a:latin typeface="-webkit-standard"/>
                  </a:rPr>
                  <a:t>Straightning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latin typeface="URWPalladioL"/>
                  </a:rPr>
                  <a:t>: smooth line segment globally</a:t>
                </a:r>
                <a:endParaRPr lang="en-US" sz="1300" dirty="0">
                  <a:effectLst/>
                  <a:latin typeface="URWPalladioL"/>
                </a:endParaRPr>
              </a:p>
              <a:p>
                <a:pPr marL="361950" lvl="4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US" sz="1800" b="0" dirty="0"/>
                  <a:t>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1800" dirty="0">
                    <a:latin typeface="URWPalladioL"/>
                  </a:rPr>
                  <a:t>))</a:t>
                </a:r>
              </a:p>
              <a:p>
                <a:pPr marL="361950" lvl="4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endParaRPr lang="en-US" sz="1800" dirty="0"/>
              </a:p>
              <a:p>
                <a:pPr lvl="4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Smoothing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latin typeface="URWPalladioL"/>
                  </a:rPr>
                  <a:t>: smooth line segment locally</a:t>
                </a:r>
                <a:endParaRPr lang="en-US" sz="1600" dirty="0">
                  <a:effectLst/>
                  <a:latin typeface="URWPalladioL"/>
                </a:endParaRPr>
              </a:p>
              <a:p>
                <a:pPr marL="361950" lvl="4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r>
                  <a:rPr lang="en-US" sz="1600" dirty="0"/>
                  <a:t>Pull the node closer to the centroid of adjacent nodes</a:t>
                </a:r>
                <a:endParaRPr lang="en-US" sz="1800" dirty="0"/>
              </a:p>
              <a:p>
                <a:pPr marL="179025" lvl="3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endParaRPr lang="en-US" sz="1800" dirty="0"/>
              </a:p>
              <a:p>
                <a:pPr marL="644525" lvl="4" indent="-285750">
                  <a:lnSpc>
                    <a:spcPct val="90000"/>
                  </a:lnSpc>
                  <a:spcAft>
                    <a:spcPts val="600"/>
                  </a:spcAft>
                </a:pPr>
                <a:endParaRPr lang="en-US" sz="1800" dirty="0"/>
              </a:p>
              <a:p>
                <a:pPr marL="644525" lvl="4" indent="-285750">
                  <a:lnSpc>
                    <a:spcPct val="90000"/>
                  </a:lnSpc>
                  <a:spcAft>
                    <a:spcPts val="600"/>
                  </a:spcAft>
                </a:pPr>
                <a:endParaRPr lang="en-CN" sz="1800" dirty="0"/>
              </a:p>
              <a:p>
                <a:pPr marL="361950" lvl="4" indent="0">
                  <a:lnSpc>
                    <a:spcPct val="90000"/>
                  </a:lnSpc>
                  <a:spcAft>
                    <a:spcPts val="600"/>
                  </a:spcAft>
                  <a:buNone/>
                </a:pPr>
                <a:endParaRPr lang="en-CN" sz="1400" dirty="0"/>
              </a:p>
            </p:txBody>
          </p:sp>
        </mc:Choice>
        <mc:Fallback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FE6B9DF4-7548-EB3E-296F-83FDFF21D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69127" y="962108"/>
                <a:ext cx="5194825" cy="3602578"/>
              </a:xfrm>
              <a:blipFill>
                <a:blip r:embed="rId3"/>
                <a:stretch>
                  <a:fillRect t="-245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B6CC8684-96FB-57A8-B15E-89C5A4E1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4426" y="4568400"/>
            <a:ext cx="7042149" cy="57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04BC189-815A-1C9F-6AC1-01155E41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4568400"/>
            <a:ext cx="1114424" cy="57228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94BDB0-F4EA-4DD6-8281-CCE2440D0CE0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  <p:pic>
        <p:nvPicPr>
          <p:cNvPr id="4" name="Picture 3" descr="A drawing of a person&#10;&#10;AI-generated content may be incorrect.">
            <a:extLst>
              <a:ext uri="{FF2B5EF4-FFF2-40B4-BE49-F238E27FC236}">
                <a16:creationId xmlns:a16="http://schemas.microsoft.com/office/drawing/2014/main" id="{D6F99F81-5900-609E-9C8A-84E19A8A4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787" y="612559"/>
            <a:ext cx="2694062" cy="369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5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51D0A-108F-BD5E-05E9-89E9E9060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DB46BDC8-1610-40A1-ADD5-2195B1371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37" y="523155"/>
            <a:ext cx="4910138" cy="732238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effectLst/>
                <a:latin typeface="Calibri" panose="020F0502020204030204" pitchFamily="34" charset="0"/>
              </a:rPr>
              <a:t>Model Framework --- Data Structure</a:t>
            </a:r>
            <a:endParaRPr lang="en-US" sz="2400" dirty="0">
              <a:effectLst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82DFF9E-C4F9-2032-016E-4884C7806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128" y="962108"/>
            <a:ext cx="6432604" cy="36025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CN" sz="1800" dirty="0"/>
          </a:p>
          <a:p>
            <a:pPr lvl="3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</a:rPr>
              <a:t>Computation units for nodes and connections in Time-Space Cube.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Allowing potential improvement in parallel force computation.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</a:endParaRPr>
          </a:p>
          <a:p>
            <a:pPr lvl="3">
              <a:lnSpc>
                <a:spcPct val="90000"/>
              </a:lnSpc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</a:endParaRPr>
          </a:p>
          <a:p>
            <a:pPr lvl="3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</a:rPr>
              <a:t>Iteratively computes the forces until convergence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Adds or removes bends in the node trajectory during each cycle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effectLst/>
                <a:latin typeface="Calibri" panose="020F0502020204030204" pitchFamily="34" charset="0"/>
              </a:rPr>
              <a:t>Imposes constraints on maximum movement and acceleration 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</a:rPr>
              <a:t>Corrects the time coordinate with real dataset</a:t>
            </a:r>
          </a:p>
          <a:p>
            <a:pPr lvl="3">
              <a:lnSpc>
                <a:spcPct val="90000"/>
              </a:lnSpc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</a:endParaRPr>
          </a:p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800" dirty="0"/>
          </a:p>
          <a:p>
            <a:pPr marL="644525" lvl="4" indent="-285750">
              <a:lnSpc>
                <a:spcPct val="90000"/>
              </a:lnSpc>
              <a:spcAft>
                <a:spcPts val="600"/>
              </a:spcAft>
            </a:pPr>
            <a:endParaRPr lang="en-CN" sz="1800" dirty="0"/>
          </a:p>
          <a:p>
            <a:pPr marL="361950" lvl="4" indent="0">
              <a:lnSpc>
                <a:spcPct val="90000"/>
              </a:lnSpc>
              <a:spcAft>
                <a:spcPts val="600"/>
              </a:spcAft>
              <a:buNone/>
            </a:pPr>
            <a:endParaRPr lang="en-CN" sz="1400" dirty="0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42289DDF-B661-FFAA-25EA-97AD66800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4426" y="4568400"/>
            <a:ext cx="7042149" cy="57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D95F154-7CDF-205B-94AD-7408E0F3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4568400"/>
            <a:ext cx="1114424" cy="57228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94BDB0-F4EA-4DD6-8281-CCE2440D0CE0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65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27F8-5801-8301-DBBD-C5E73207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F76E65EC-FC71-7329-B1F7-193AA447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37" y="523155"/>
            <a:ext cx="4910138" cy="732238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effectLst/>
                <a:latin typeface="Calibri" panose="020F0502020204030204" pitchFamily="34" charset="0"/>
              </a:rPr>
              <a:t>Model Framework --- Visualization </a:t>
            </a:r>
            <a:endParaRPr lang="en-US" sz="2400" dirty="0">
              <a:effectLst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A4F6AE1-9ABE-816B-36E0-57B4D8B96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9128" y="962108"/>
            <a:ext cx="6432604" cy="36025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CN" sz="1800" dirty="0"/>
          </a:p>
          <a:p>
            <a:pPr lvl="3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/>
                <a:latin typeface="Calibri" panose="020F0502020204030204" pitchFamily="34" charset="0"/>
              </a:rPr>
              <a:t>We</a:t>
            </a:r>
            <a:r>
              <a:rPr lang="en-US" sz="2000" dirty="0">
                <a:latin typeface="Calibri" panose="020F0502020204030204" pitchFamily="34" charset="0"/>
              </a:rPr>
              <a:t>bGL</a:t>
            </a:r>
          </a:p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400" dirty="0">
              <a:latin typeface="Calibri" panose="020F0502020204030204" pitchFamily="34" charset="0"/>
            </a:endParaRP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</a:rPr>
              <a:t>high-performance rendering 3D graphics on GPU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endParaRPr lang="en-US" sz="1000" dirty="0">
              <a:latin typeface="Calibri" panose="020F0502020204030204" pitchFamily="34" charset="0"/>
            </a:endParaRP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</a:rPr>
              <a:t>Advantages on animation of graph evolution</a:t>
            </a:r>
          </a:p>
          <a:p>
            <a:pPr lvl="4">
              <a:lnSpc>
                <a:spcPct val="90000"/>
              </a:lnSpc>
              <a:spcAft>
                <a:spcPts val="600"/>
              </a:spcAft>
            </a:pPr>
            <a:endParaRPr lang="en-US" sz="1000" dirty="0">
              <a:latin typeface="Calibri" panose="020F0502020204030204" pitchFamily="34" charset="0"/>
            </a:endParaRP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</a:rPr>
              <a:t>Renders surfaces using triangle strips</a:t>
            </a:r>
          </a:p>
          <a:p>
            <a:pPr marL="361950" lvl="4" indent="0">
              <a:spcAft>
                <a:spcPts val="600"/>
              </a:spcAft>
              <a:buNone/>
            </a:pPr>
            <a:r>
              <a:rPr lang="en-US" sz="1300" dirty="0">
                <a:latin typeface="Calibri" panose="020F0502020204030204" pitchFamily="34" charset="0"/>
              </a:rPr>
              <a:t>       </a:t>
            </a:r>
            <a:r>
              <a:rPr lang="en-US" sz="1600" dirty="0">
                <a:latin typeface="Calibri" panose="020F0502020204030204" pitchFamily="34" charset="0"/>
              </a:rPr>
              <a:t>Serializes the node coordinates into the vertex shader </a:t>
            </a:r>
          </a:p>
          <a:p>
            <a:pPr marL="361950" lvl="4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000" dirty="0">
              <a:latin typeface="Calibri" panose="020F0502020204030204" pitchFamily="34" charset="0"/>
            </a:endParaRPr>
          </a:p>
          <a:p>
            <a:pPr lvl="4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</a:rPr>
              <a:t>Server-Client environment accelerating the computation speed</a:t>
            </a:r>
          </a:p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</a:endParaRPr>
          </a:p>
          <a:p>
            <a:pPr lvl="3">
              <a:lnSpc>
                <a:spcPct val="90000"/>
              </a:lnSpc>
              <a:spcAft>
                <a:spcPts val="600"/>
              </a:spcAft>
            </a:pPr>
            <a:endParaRPr lang="en-US" sz="1800" dirty="0">
              <a:latin typeface="Calibri" panose="020F0502020204030204" pitchFamily="34" charset="0"/>
            </a:endParaRPr>
          </a:p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800" dirty="0">
              <a:latin typeface="Calibri" panose="020F0502020204030204" pitchFamily="34" charset="0"/>
            </a:endParaRPr>
          </a:p>
          <a:p>
            <a:pPr lvl="3">
              <a:lnSpc>
                <a:spcPct val="90000"/>
              </a:lnSpc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</a:endParaRPr>
          </a:p>
          <a:p>
            <a:pPr marL="179025" lvl="3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800" dirty="0"/>
          </a:p>
          <a:p>
            <a:pPr marL="644525" lvl="4" indent="-285750">
              <a:lnSpc>
                <a:spcPct val="90000"/>
              </a:lnSpc>
              <a:spcAft>
                <a:spcPts val="600"/>
              </a:spcAft>
            </a:pPr>
            <a:endParaRPr lang="en-CN" sz="1800" dirty="0"/>
          </a:p>
          <a:p>
            <a:pPr marL="361950" lvl="4" indent="0">
              <a:lnSpc>
                <a:spcPct val="90000"/>
              </a:lnSpc>
              <a:spcAft>
                <a:spcPts val="600"/>
              </a:spcAft>
              <a:buNone/>
            </a:pPr>
            <a:endParaRPr lang="en-CN" sz="1400" dirty="0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FAFB933F-46AE-9573-8795-FE8361F1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4426" y="4568400"/>
            <a:ext cx="7042149" cy="57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629166-4BA6-9ACF-4A44-963874F5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4568400"/>
            <a:ext cx="1114424" cy="57228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94BDB0-F4EA-4DD6-8281-CCE2440D0CE0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  <p:pic>
        <p:nvPicPr>
          <p:cNvPr id="8" name="Picture 7" descr="A green triangle with black arrows&#10;&#10;AI-generated content may be incorrect.">
            <a:extLst>
              <a:ext uri="{FF2B5EF4-FFF2-40B4-BE49-F238E27FC236}">
                <a16:creationId xmlns:a16="http://schemas.microsoft.com/office/drawing/2014/main" id="{4B2BE6A9-66C7-EECC-1909-DE8A02DA6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111" y="2207344"/>
            <a:ext cx="2703036" cy="111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CA924-D520-43C4-3A45-3B2C4FD42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93E391E-AC6D-A4DC-AFD0-C525F8D1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AE561E6-B01C-2887-D2AA-882E32E5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9749B10A-B087-C228-9220-570AB25B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25" y="518711"/>
            <a:ext cx="6516618" cy="539038"/>
          </a:xfrm>
        </p:spPr>
        <p:txBody>
          <a:bodyPr/>
          <a:lstStyle/>
          <a:p>
            <a:r>
              <a:rPr lang="en-GB" sz="2400" b="1" dirty="0"/>
              <a:t>Challenges</a:t>
            </a:r>
            <a:br>
              <a:rPr lang="en-GB" sz="2400" b="1" dirty="0"/>
            </a:br>
            <a:br>
              <a:rPr lang="en-GB" sz="2400" b="1" dirty="0"/>
            </a:b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jdelijke aanduiding voor inhoud 14">
                <a:extLst>
                  <a:ext uri="{FF2B5EF4-FFF2-40B4-BE49-F238E27FC236}">
                    <a16:creationId xmlns:a16="http://schemas.microsoft.com/office/drawing/2014/main" id="{6E274C13-2B2D-CE75-07BF-A0BD7DBAB4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7214" y="1136434"/>
                <a:ext cx="6090945" cy="3353280"/>
              </a:xfrm>
            </p:spPr>
            <p:txBody>
              <a:bodyPr>
                <a:normAutofit/>
              </a:bodyPr>
              <a:lstStyle/>
              <a:p>
                <a:pPr lvl="2">
                  <a:spcAft>
                    <a:spcPts val="600"/>
                  </a:spcAft>
                </a:pPr>
                <a:r>
                  <a:rPr lang="en-GB" sz="1950" dirty="0"/>
                  <a:t>High Computation Complexity of Node Repulsion</a:t>
                </a:r>
              </a:p>
              <a:p>
                <a:pPr lvl="3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1600" dirty="0"/>
                  <a:t> for b bents</a:t>
                </a:r>
              </a:p>
              <a:p>
                <a:pPr marL="179025" lvl="3" indent="0">
                  <a:spcAft>
                    <a:spcPts val="600"/>
                  </a:spcAft>
                  <a:buNone/>
                </a:pPr>
                <a:endParaRPr lang="en-GB" sz="1600" dirty="0"/>
              </a:p>
              <a:p>
                <a:pPr lvl="2">
                  <a:spcAft>
                    <a:spcPts val="600"/>
                  </a:spcAft>
                </a:pPr>
                <a:r>
                  <a:rPr lang="en-US" sz="1950" dirty="0"/>
                  <a:t>Hyperparameter Tuning</a:t>
                </a:r>
              </a:p>
              <a:p>
                <a:pPr lvl="3">
                  <a:spcAft>
                    <a:spcPts val="600"/>
                  </a:spcAft>
                </a:pPr>
                <a:r>
                  <a:rPr lang="en-US" sz="1600" dirty="0">
                    <a:latin typeface="URWPalladioL"/>
                  </a:rPr>
                  <a:t>Time-Space conversion factor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endParaRPr lang="en-US" sz="1600" dirty="0">
                  <a:solidFill>
                    <a:srgbClr val="000000"/>
                  </a:solidFill>
                  <a:latin typeface="-webkit-standard"/>
                </a:endParaRPr>
              </a:p>
              <a:p>
                <a:pPr lvl="3">
                  <a:spcAft>
                    <a:spcPts val="600"/>
                  </a:spcAft>
                </a:pPr>
                <a:r>
                  <a:rPr lang="en-US" sz="1600" dirty="0">
                    <a:solidFill>
                      <a:srgbClr val="000000"/>
                    </a:solidFill>
                    <a:latin typeface="-webkit-standard"/>
                  </a:rPr>
                  <a:t>Desired Distance between nodes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1600" dirty="0">
                  <a:solidFill>
                    <a:srgbClr val="000000"/>
                  </a:solidFill>
                  <a:latin typeface="-webkit-standard"/>
                  <a:ea typeface="Cambria Math" panose="02040503050406030204" pitchFamily="18" charset="0"/>
                </a:endParaRPr>
              </a:p>
              <a:p>
                <a:pPr lvl="3">
                  <a:spcAft>
                    <a:spcPts val="600"/>
                  </a:spcAft>
                </a:pPr>
                <a:endParaRPr lang="en-US" sz="1600" dirty="0">
                  <a:solidFill>
                    <a:srgbClr val="000000"/>
                  </a:solidFill>
                  <a:latin typeface="-webkit-standard"/>
                  <a:ea typeface="Cambria Math" panose="02040503050406030204" pitchFamily="18" charset="0"/>
                </a:endParaRPr>
              </a:p>
              <a:p>
                <a:pPr lvl="2">
                  <a:spcAft>
                    <a:spcPts val="600"/>
                  </a:spcAft>
                </a:pPr>
                <a:r>
                  <a:rPr lang="en-GB" sz="1950" dirty="0"/>
                  <a:t>Initial Placement</a:t>
                </a:r>
              </a:p>
              <a:p>
                <a:pPr lvl="3">
                  <a:spcAft>
                    <a:spcPts val="600"/>
                  </a:spcAft>
                </a:pPr>
                <a:r>
                  <a:rPr lang="en-GB" sz="1600" dirty="0"/>
                  <a:t>Preventing large movement at the begin and end time</a:t>
                </a:r>
              </a:p>
            </p:txBody>
          </p:sp>
        </mc:Choice>
        <mc:Fallback>
          <p:sp>
            <p:nvSpPr>
              <p:cNvPr id="4" name="Tijdelijke aanduiding voor inhoud 14">
                <a:extLst>
                  <a:ext uri="{FF2B5EF4-FFF2-40B4-BE49-F238E27FC236}">
                    <a16:creationId xmlns:a16="http://schemas.microsoft.com/office/drawing/2014/main" id="{6E274C13-2B2D-CE75-07BF-A0BD7DBAB4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7214" y="1136434"/>
                <a:ext cx="6090945" cy="3353280"/>
              </a:xfrm>
              <a:blipFill>
                <a:blip r:embed="rId3"/>
                <a:stretch>
                  <a:fillRect l="-2287" t="-226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18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0050-5467-A6FB-EB6B-8D6B05C3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6069A83-CD5B-A5BE-AB2F-EAE7C6CE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6DAF7E3-B4A8-0916-95B3-F070CDAE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2927C811-6B4E-46DD-3A28-0A3A1381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25" y="518711"/>
            <a:ext cx="6516618" cy="539038"/>
          </a:xfrm>
        </p:spPr>
        <p:txBody>
          <a:bodyPr/>
          <a:lstStyle/>
          <a:p>
            <a:r>
              <a:rPr lang="en-GB" sz="2400" b="1" dirty="0"/>
              <a:t>Improvement</a:t>
            </a:r>
          </a:p>
        </p:txBody>
      </p:sp>
      <p:sp>
        <p:nvSpPr>
          <p:cNvPr id="4" name="Tijdelijke aanduiding voor inhoud 14">
            <a:extLst>
              <a:ext uri="{FF2B5EF4-FFF2-40B4-BE49-F238E27FC236}">
                <a16:creationId xmlns:a16="http://schemas.microsoft.com/office/drawing/2014/main" id="{4471A72C-CC37-7BE2-AF44-86827A065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1221" y="1290571"/>
            <a:ext cx="6090945" cy="3353280"/>
          </a:xfrm>
        </p:spPr>
        <p:txBody>
          <a:bodyPr>
            <a:normAutofit/>
          </a:bodyPr>
          <a:lstStyle/>
          <a:p>
            <a:pPr lvl="2">
              <a:spcAft>
                <a:spcPts val="600"/>
              </a:spcAft>
            </a:pPr>
            <a:r>
              <a:rPr lang="en-GB" sz="1950" dirty="0"/>
              <a:t>Exploiting Parallel Computation on Node Repulsion</a:t>
            </a:r>
          </a:p>
          <a:p>
            <a:pPr lvl="3">
              <a:spcAft>
                <a:spcPts val="600"/>
              </a:spcAft>
            </a:pPr>
            <a:r>
              <a:rPr lang="en-GB" sz="1600" dirty="0"/>
              <a:t>Splits force calculations among nodes and computes them in parallel</a:t>
            </a:r>
          </a:p>
          <a:p>
            <a:pPr lvl="2">
              <a:spcAft>
                <a:spcPts val="600"/>
              </a:spcAft>
            </a:pPr>
            <a:r>
              <a:rPr lang="en-US" sz="1950" dirty="0"/>
              <a:t>Hyperparameter Tuning</a:t>
            </a:r>
          </a:p>
          <a:p>
            <a:pPr lvl="3">
              <a:spcAft>
                <a:spcPts val="600"/>
              </a:spcAft>
            </a:pPr>
            <a:r>
              <a:rPr lang="en-US" sz="1600" dirty="0" err="1">
                <a:latin typeface="URWPalladioL"/>
              </a:rPr>
              <a:t>AutoTau</a:t>
            </a:r>
            <a:endParaRPr lang="en-US" sz="1600" dirty="0">
              <a:solidFill>
                <a:srgbClr val="000000"/>
              </a:solidFill>
              <a:latin typeface="-webkit-standard"/>
              <a:ea typeface="Cambria Math" panose="02040503050406030204" pitchFamily="18" charset="0"/>
            </a:endParaRPr>
          </a:p>
          <a:p>
            <a:pPr lvl="2">
              <a:spcAft>
                <a:spcPts val="600"/>
              </a:spcAft>
            </a:pPr>
            <a:r>
              <a:rPr lang="en-GB" sz="1950" dirty="0"/>
              <a:t>Initial Placement</a:t>
            </a:r>
          </a:p>
          <a:p>
            <a:pPr lvl="3">
              <a:spcAft>
                <a:spcPts val="600"/>
              </a:spcAft>
            </a:pPr>
            <a:r>
              <a:rPr lang="en-GB" sz="1600" dirty="0"/>
              <a:t>Pre-computes the average node connections to initialize clusters.</a:t>
            </a:r>
          </a:p>
          <a:p>
            <a:pPr lvl="2">
              <a:spcAft>
                <a:spcPts val="600"/>
              </a:spcAft>
            </a:pPr>
            <a:r>
              <a:rPr lang="en-GB" sz="1950" dirty="0"/>
              <a:t>Testing Based on Graph Measurement Metrics</a:t>
            </a:r>
          </a:p>
          <a:p>
            <a:pPr lvl="3">
              <a:spcAft>
                <a:spcPts val="600"/>
              </a:spcAft>
            </a:pPr>
            <a:r>
              <a:rPr lang="en-GB" sz="1600" dirty="0"/>
              <a:t>Both discrete and continuous dataset computed</a:t>
            </a:r>
          </a:p>
          <a:p>
            <a:pPr lvl="3">
              <a:spcAft>
                <a:spcPts val="600"/>
              </a:spcAft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0559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9635-21EE-54DE-5E04-B9D1F4EE5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A2D83-6898-0496-58E2-AF2BF756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C69FCD-28B6-E50B-14B3-84CF24FE7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8186B509-B604-4DFF-1A2D-44AE87AD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25" y="518711"/>
            <a:ext cx="6516618" cy="539038"/>
          </a:xfrm>
        </p:spPr>
        <p:txBody>
          <a:bodyPr/>
          <a:lstStyle/>
          <a:p>
            <a:r>
              <a:rPr lang="en-GB" sz="2400" b="1" dirty="0"/>
              <a:t>Measurement Metrics</a:t>
            </a:r>
          </a:p>
        </p:txBody>
      </p:sp>
      <p:sp>
        <p:nvSpPr>
          <p:cNvPr id="4" name="Tijdelijke aanduiding voor inhoud 14">
            <a:extLst>
              <a:ext uri="{FF2B5EF4-FFF2-40B4-BE49-F238E27FC236}">
                <a16:creationId xmlns:a16="http://schemas.microsoft.com/office/drawing/2014/main" id="{EC2EFA3A-E325-3DAB-7A59-181835ED1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1221" y="1290571"/>
            <a:ext cx="6090945" cy="3353280"/>
          </a:xfrm>
        </p:spPr>
        <p:txBody>
          <a:bodyPr>
            <a:normAutofit/>
          </a:bodyPr>
          <a:lstStyle/>
          <a:p>
            <a:pPr lvl="2">
              <a:spcAft>
                <a:spcPts val="600"/>
              </a:spcAft>
            </a:pPr>
            <a:r>
              <a:rPr lang="en-US" sz="2000" dirty="0"/>
              <a:t>Crowding</a:t>
            </a:r>
            <a:endParaRPr lang="en-GB" sz="1950" dirty="0"/>
          </a:p>
          <a:p>
            <a:pPr lvl="3">
              <a:spcAft>
                <a:spcPts val="600"/>
              </a:spcAft>
            </a:pPr>
            <a:r>
              <a:rPr lang="en-US" sz="1600" dirty="0">
                <a:effectLst/>
                <a:latin typeface="URWPalladioL"/>
              </a:rPr>
              <a:t>The number of times nodes pass close to each other in animation. </a:t>
            </a:r>
            <a:endParaRPr lang="en-US" sz="1800" dirty="0"/>
          </a:p>
          <a:p>
            <a:pPr lvl="3">
              <a:spcAft>
                <a:spcPts val="600"/>
              </a:spcAft>
            </a:pPr>
            <a:endParaRPr lang="en-GB" sz="1600" dirty="0"/>
          </a:p>
          <a:p>
            <a:pPr lvl="2">
              <a:spcAft>
                <a:spcPts val="600"/>
              </a:spcAft>
            </a:pPr>
            <a:r>
              <a:rPr lang="en-US" sz="1950" dirty="0"/>
              <a:t>Movement</a:t>
            </a:r>
          </a:p>
          <a:p>
            <a:pPr lvl="3">
              <a:spcAft>
                <a:spcPts val="600"/>
              </a:spcAft>
            </a:pPr>
            <a:r>
              <a:rPr lang="en-US" sz="1600" dirty="0"/>
              <a:t>The average 2D movements of nodes.</a:t>
            </a:r>
          </a:p>
          <a:p>
            <a:pPr lvl="3">
              <a:spcAft>
                <a:spcPts val="600"/>
              </a:spcAft>
            </a:pPr>
            <a:endParaRPr lang="en-US" sz="1600" dirty="0">
              <a:solidFill>
                <a:srgbClr val="000000"/>
              </a:solidFill>
              <a:latin typeface="-webkit-standard"/>
              <a:ea typeface="Cambria Math" panose="02040503050406030204" pitchFamily="18" charset="0"/>
            </a:endParaRPr>
          </a:p>
          <a:p>
            <a:pPr lvl="2">
              <a:spcAft>
                <a:spcPts val="600"/>
              </a:spcAft>
            </a:pPr>
            <a:r>
              <a:rPr lang="en-GB" sz="1950" dirty="0"/>
              <a:t>Stress</a:t>
            </a:r>
          </a:p>
          <a:p>
            <a:pPr lvl="3">
              <a:spcAft>
                <a:spcPts val="600"/>
              </a:spcAft>
            </a:pPr>
            <a:r>
              <a:rPr lang="en-US" sz="1600" dirty="0"/>
              <a:t>Measures how well the Euclidean distances in the graph layout preserve the shortest path distances in the original graph.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29674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D4EB-5BA7-97BF-0AB9-BA52923D3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D8B7F7E-2161-D9E1-EFDD-5E77FC389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B65E08A-4469-C835-8C6A-962E37F4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575988E-D28C-917E-15E5-0FD977825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25" y="518711"/>
            <a:ext cx="6516618" cy="539038"/>
          </a:xfrm>
        </p:spPr>
        <p:txBody>
          <a:bodyPr/>
          <a:lstStyle/>
          <a:p>
            <a:r>
              <a:rPr lang="en-GB" sz="2400" b="1" dirty="0"/>
              <a:t>Dataset</a:t>
            </a:r>
          </a:p>
        </p:txBody>
      </p:sp>
      <p:sp>
        <p:nvSpPr>
          <p:cNvPr id="4" name="Tijdelijke aanduiding voor inhoud 14">
            <a:extLst>
              <a:ext uri="{FF2B5EF4-FFF2-40B4-BE49-F238E27FC236}">
                <a16:creationId xmlns:a16="http://schemas.microsoft.com/office/drawing/2014/main" id="{44C74E1C-106F-2303-F194-A1B7F44E5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0199" y="948376"/>
            <a:ext cx="6432851" cy="2933700"/>
          </a:xfrm>
        </p:spPr>
        <p:txBody>
          <a:bodyPr>
            <a:normAutofit lnSpcReduction="10000"/>
          </a:bodyPr>
          <a:lstStyle/>
          <a:p>
            <a:pPr lvl="2">
              <a:spcAft>
                <a:spcPts val="600"/>
              </a:spcAft>
            </a:pPr>
            <a:r>
              <a:rPr lang="en-GB" sz="1950" dirty="0" err="1"/>
              <a:t>Vandebunt</a:t>
            </a:r>
            <a:r>
              <a:rPr lang="en-GB" sz="1950" dirty="0"/>
              <a:t>: </a:t>
            </a:r>
            <a:r>
              <a:rPr lang="en-GB" sz="1600" dirty="0"/>
              <a:t>Student relationship across seven different timeframes.</a:t>
            </a:r>
          </a:p>
          <a:p>
            <a:pPr lvl="3">
              <a:spcAft>
                <a:spcPts val="600"/>
              </a:spcAft>
            </a:pPr>
            <a:r>
              <a:rPr lang="en-GB" sz="1600" dirty="0"/>
              <a:t>Time-sliced</a:t>
            </a:r>
          </a:p>
          <a:p>
            <a:pPr lvl="3">
              <a:spcAft>
                <a:spcPts val="600"/>
              </a:spcAft>
            </a:pPr>
            <a:r>
              <a:rPr lang="en-GB" sz="1600" dirty="0"/>
              <a:t>32 nodes and 49 connections</a:t>
            </a:r>
            <a:endParaRPr lang="en-GB" sz="1950" dirty="0"/>
          </a:p>
          <a:p>
            <a:pPr lvl="2">
              <a:spcAft>
                <a:spcPts val="600"/>
              </a:spcAft>
            </a:pPr>
            <a:r>
              <a:rPr lang="en-US" sz="1950" dirty="0"/>
              <a:t>Rugby: </a:t>
            </a:r>
            <a:r>
              <a:rPr lang="en-US" sz="1600" dirty="0"/>
              <a:t>Competition news of rugby teams on Twitter (X) over a year.</a:t>
            </a:r>
            <a:endParaRPr lang="en-US" sz="1950" dirty="0"/>
          </a:p>
          <a:p>
            <a:pPr lvl="3">
              <a:spcAft>
                <a:spcPts val="600"/>
              </a:spcAft>
            </a:pPr>
            <a:r>
              <a:rPr lang="en-GB" sz="1600" dirty="0" err="1"/>
              <a:t>Continous</a:t>
            </a:r>
            <a:endParaRPr lang="en-GB" sz="1600" dirty="0"/>
          </a:p>
          <a:p>
            <a:pPr lvl="3">
              <a:spcAft>
                <a:spcPts val="600"/>
              </a:spcAft>
            </a:pPr>
            <a:r>
              <a:rPr lang="en-GB" sz="1600" dirty="0"/>
              <a:t>12 nodes and 888 connections(merged repeated news)</a:t>
            </a:r>
            <a:endParaRPr lang="en-US" sz="2000" dirty="0">
              <a:solidFill>
                <a:srgbClr val="000000"/>
              </a:solidFill>
              <a:latin typeface="-webkit-standard"/>
            </a:endParaRPr>
          </a:p>
          <a:p>
            <a:pPr lvl="2">
              <a:spcAft>
                <a:spcPts val="600"/>
              </a:spcAft>
            </a:pPr>
            <a:r>
              <a:rPr lang="en-GB" sz="1950" dirty="0"/>
              <a:t>Dialog: </a:t>
            </a:r>
            <a:r>
              <a:rPr lang="en-GB" sz="1600" dirty="0"/>
              <a:t>Dialog from all chapters of book “Pride and Prejudice”</a:t>
            </a:r>
          </a:p>
          <a:p>
            <a:pPr lvl="3">
              <a:spcAft>
                <a:spcPts val="600"/>
              </a:spcAft>
            </a:pPr>
            <a:r>
              <a:rPr lang="en-GB" sz="1600" dirty="0" err="1"/>
              <a:t>Continous</a:t>
            </a:r>
            <a:endParaRPr lang="en-GB" sz="1600" dirty="0"/>
          </a:p>
          <a:p>
            <a:pPr lvl="3">
              <a:spcAft>
                <a:spcPts val="600"/>
              </a:spcAft>
            </a:pPr>
            <a:r>
              <a:rPr lang="en-GB" sz="1600" dirty="0"/>
              <a:t>118 nodes and 3481 connections</a:t>
            </a:r>
          </a:p>
        </p:txBody>
      </p:sp>
    </p:spTree>
    <p:extLst>
      <p:ext uri="{BB962C8B-B14F-4D97-AF65-F5344CB8AC3E}">
        <p14:creationId xmlns:p14="http://schemas.microsoft.com/office/powerpoint/2010/main" val="384601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CA7F-5ACD-432C-72E5-E170FDAA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FCA4B8A9-2899-0711-4DF4-951773DB2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37" y="523155"/>
            <a:ext cx="4910138" cy="732238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effectLst/>
                <a:latin typeface="Calibri" panose="020F0502020204030204" pitchFamily="34" charset="0"/>
              </a:rPr>
              <a:t>Dynamic Graph Visualization Demo</a:t>
            </a:r>
            <a:endParaRPr lang="en-US" sz="2400" dirty="0">
              <a:effectLst/>
            </a:endParaRP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E915BCF0-1D84-D784-1FA3-AB72C873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4426" y="4568400"/>
            <a:ext cx="7042149" cy="57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AE0C26-0BCC-5C6E-CD33-81F5E180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4568400"/>
            <a:ext cx="1114424" cy="57228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94BDB0-F4EA-4DD6-8281-CCE2440D0CE0}" type="slidenum">
              <a:rPr lang="en-GB" smtClean="0"/>
              <a:pPr>
                <a:spcAft>
                  <a:spcPts val="600"/>
                </a:spcAft>
              </a:pPr>
              <a:t>15</a:t>
            </a:fld>
            <a:endParaRPr lang="en-GB"/>
          </a:p>
        </p:txBody>
      </p:sp>
      <p:pic>
        <p:nvPicPr>
          <p:cNvPr id="8" name="rugby.mov">
            <a:hlinkClick r:id="" action="ppaction://media"/>
            <a:extLst>
              <a:ext uri="{FF2B5EF4-FFF2-40B4-BE49-F238E27FC236}">
                <a16:creationId xmlns:a16="http://schemas.microsoft.com/office/drawing/2014/main" id="{4B5D1A44-21EA-0C63-892C-395FC9C1231A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16050" y="1634700"/>
            <a:ext cx="4336164" cy="29337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F6F553-8B70-6543-3633-AD0F4D566A68}"/>
              </a:ext>
            </a:extLst>
          </p:cNvPr>
          <p:cNvSpPr txBox="1"/>
          <p:nvPr/>
        </p:nvSpPr>
        <p:spPr>
          <a:xfrm>
            <a:off x="-319596" y="1058700"/>
            <a:ext cx="6312023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>
              <a:lnSpc>
                <a:spcPct val="90000"/>
              </a:lnSpc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</a:rPr>
              <a:t>Rugby teams' competition network </a:t>
            </a:r>
          </a:p>
        </p:txBody>
      </p:sp>
    </p:spTree>
    <p:extLst>
      <p:ext uri="{BB962C8B-B14F-4D97-AF65-F5344CB8AC3E}">
        <p14:creationId xmlns:p14="http://schemas.microsoft.com/office/powerpoint/2010/main" val="25965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5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B3980-4162-8F21-48C0-E16D2A2D7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C0BA246-06DF-D5A8-D4E8-933C9B59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90AAC20-9501-8832-11E6-D85B3E15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D941816-BBEC-F0D0-D14C-3E119D8C7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25" y="518711"/>
            <a:ext cx="6516618" cy="539038"/>
          </a:xfrm>
        </p:spPr>
        <p:txBody>
          <a:bodyPr/>
          <a:lstStyle/>
          <a:p>
            <a:r>
              <a:rPr lang="en-GB" sz="24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4094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52356-1993-7D27-9EC4-1BE484A5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5DA985-57E4-6356-2D4C-EA6130DF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D82FBE-AFB8-AEA8-77F1-7E41B311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8FDB06-4E7D-C671-A4CE-03417C2F6C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9AB473E-2966-70CD-9B07-624D0F067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0E84A2-5859-9CC5-C44D-D2D80502EFF9}"/>
              </a:ext>
            </a:extLst>
          </p:cNvPr>
          <p:cNvSpPr txBox="1"/>
          <p:nvPr/>
        </p:nvSpPr>
        <p:spPr>
          <a:xfrm>
            <a:off x="2068513" y="1831133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1" cap="none" spc="0" dirty="0">
                <a:ln/>
                <a:solidFill>
                  <a:schemeClr val="accent4"/>
                </a:solidFill>
                <a:effectLst/>
              </a:rPr>
              <a:t>Q&amp;A</a:t>
            </a:r>
            <a:endParaRPr lang="en-CN" sz="80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4925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_16x9.potx" id="{9370F84E-7576-4FDA-B736-A09996DF8429}" vid="{ED81D3C9-A1FB-4E5B-AF38-E92F700A58FD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TUe_16x9 (2)</Template>
  <TotalTime>9910</TotalTime>
  <Words>628</Words>
  <Application>Microsoft Macintosh PowerPoint</Application>
  <PresentationFormat>On-screen Show (16:9)</PresentationFormat>
  <Paragraphs>187</Paragraphs>
  <Slides>17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-webkit-standard</vt:lpstr>
      <vt:lpstr>NimbusRomNo9L</vt:lpstr>
      <vt:lpstr>URWPalladioL</vt:lpstr>
      <vt:lpstr>Arial</vt:lpstr>
      <vt:lpstr>Calibri</vt:lpstr>
      <vt:lpstr>Cambria Math</vt:lpstr>
      <vt:lpstr>Kantoorthema</vt:lpstr>
      <vt:lpstr>Dynamic Graph Visualization on WebGL</vt:lpstr>
      <vt:lpstr>Dynamic Graph Visualization</vt:lpstr>
      <vt:lpstr>Dynamic Graph Approaches</vt:lpstr>
      <vt:lpstr>Event-based graph layout</vt:lpstr>
      <vt:lpstr>Modelling events using interval function</vt:lpstr>
      <vt:lpstr>Challenges for Event-based Graph</vt:lpstr>
      <vt:lpstr>Dynamic Graph Computation</vt:lpstr>
      <vt:lpstr>Dynamic Graph Computation</vt:lpstr>
      <vt:lpstr>Model Framework --- Data Structure</vt:lpstr>
      <vt:lpstr>Model Framework --- Visualization </vt:lpstr>
      <vt:lpstr>Challenges  </vt:lpstr>
      <vt:lpstr>Improvement</vt:lpstr>
      <vt:lpstr>Measurement Metrics</vt:lpstr>
      <vt:lpstr>Dataset</vt:lpstr>
      <vt:lpstr>Dynamic Graph Visualization Demo</vt:lpstr>
      <vt:lpstr>Demo</vt:lpstr>
      <vt:lpstr>PowerPoint Presentation</vt:lpstr>
    </vt:vector>
  </TitlesOfParts>
  <Company>TU/e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of a title at the top</dc:title>
  <dc:creator>Ven, I.M.J. van de</dc:creator>
  <cp:lastModifiedBy>Li, Guangyu</cp:lastModifiedBy>
  <cp:revision>44</cp:revision>
  <dcterms:created xsi:type="dcterms:W3CDTF">2019-11-27T15:26:32Z</dcterms:created>
  <dcterms:modified xsi:type="dcterms:W3CDTF">2025-03-23T15:46:20Z</dcterms:modified>
</cp:coreProperties>
</file>